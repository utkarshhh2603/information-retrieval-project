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-32" y="-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4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25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6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27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8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29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30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31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3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3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34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35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36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37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38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39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40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41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4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4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44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45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46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47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48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49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50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51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52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56.png"/><Relationship Id="rId5" Type="http://schemas.openxmlformats.org/officeDocument/2006/relationships/image" Target="../media/image54.png"/><Relationship Id="rId10" Type="http://schemas.openxmlformats.org/officeDocument/2006/relationships/image" Target="../media/image17.png"/><Relationship Id="rId4" Type="http://schemas.openxmlformats.org/officeDocument/2006/relationships/image" Target="../media/image53.png"/><Relationship Id="rId9" Type="http://schemas.openxmlformats.org/officeDocument/2006/relationships/image" Target="../media/image16.png"/><Relationship Id="rId1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60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61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6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6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64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65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66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67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72235" y="902554"/>
            <a:ext cx="7539318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0" i="0" u="none" dirty="0">
                <a:solidFill>
                  <a:srgbClr val="FFFFFF"/>
                </a:solidFill>
                <a:latin typeface="Plus Jakarta Sans ExtraBold"/>
              </a:rPr>
              <a:t>Information Retrieval</a:t>
            </a:r>
            <a:r>
              <a:rPr dirty="0"/>
              <a:t>
</a:t>
            </a:r>
            <a:r>
              <a:rPr sz="4200" b="0" i="0" u="none" dirty="0">
                <a:solidFill>
                  <a:srgbClr val="FFFFFF"/>
                </a:solidFill>
                <a:latin typeface="Plus Jakarta Sans ExtraBold"/>
              </a:rPr>
              <a:t> Project Assignments</a:t>
            </a:r>
            <a:r>
              <a:rPr lang="en-US" sz="4200" b="0" i="0" u="none" dirty="0">
                <a:solidFill>
                  <a:srgbClr val="FFFFFF"/>
                </a:solidFill>
                <a:latin typeface="Plus Jakarta Sans ExtraBold"/>
              </a:rPr>
              <a:t> – 20 Marks </a:t>
            </a:r>
          </a:p>
          <a:p>
            <a:pPr algn="ctr">
              <a:lnSpc>
                <a:spcPts val="4830"/>
              </a:lnSpc>
            </a:pPr>
            <a:r>
              <a:rPr lang="en-US" sz="4200" b="0" i="0" u="none" dirty="0">
                <a:solidFill>
                  <a:srgbClr val="FFFFFF"/>
                </a:solidFill>
                <a:latin typeface="Plus Jakarta Sans ExtraBold"/>
              </a:rPr>
              <a:t> </a:t>
            </a:r>
            <a:endParaRPr sz="2000" b="0" i="0" u="none" dirty="0">
              <a:solidFill>
                <a:srgbClr val="FFFFFF"/>
              </a:solidFill>
              <a:latin typeface="Plus Jakarta Sans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700" y="2834046"/>
            <a:ext cx="70866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Standardized Course Catalog (Projects 1 to 21)</a:t>
            </a:r>
            <a:r>
              <a:rPr dirty="0"/>
              <a:t>
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Featuring Classical, Semantic, Dense &amp; Hybrid RRF Ranking Frameworks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C12288-4558-F631-63F9-80E2890FBE43}"/>
              </a:ext>
            </a:extLst>
          </p:cNvPr>
          <p:cNvSpPr/>
          <p:nvPr/>
        </p:nvSpPr>
        <p:spPr>
          <a:xfrm>
            <a:off x="2052918" y="4105834"/>
            <a:ext cx="7727576" cy="1595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Report : </a:t>
            </a:r>
            <a:r>
              <a:rPr lang="en-US" dirty="0">
                <a:solidFill>
                  <a:srgbClr val="FF0000"/>
                </a:solidFill>
              </a:rPr>
              <a:t>10 Marks </a:t>
            </a:r>
            <a:r>
              <a:rPr lang="en-US" dirty="0"/>
              <a:t>( AI plagiarism 1&amp;&amp; Similarity &lt; 10%) * </a:t>
            </a:r>
          </a:p>
          <a:p>
            <a:pPr algn="ctr"/>
            <a:r>
              <a:rPr lang="en-US" dirty="0"/>
              <a:t>+</a:t>
            </a:r>
          </a:p>
          <a:p>
            <a:pPr algn="ctr"/>
            <a:r>
              <a:rPr lang="en-US" dirty="0"/>
              <a:t>Demonstration of project using Code and Report : </a:t>
            </a:r>
            <a:r>
              <a:rPr lang="en-US" dirty="0">
                <a:solidFill>
                  <a:srgbClr val="FF0000"/>
                </a:solidFill>
              </a:rPr>
              <a:t>10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96000"/>
            <a:ext cx="112776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38225"/>
            <a:ext cx="11277600" cy="7553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45927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945927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Standardized IR Evaluation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404812"/>
            <a:ext cx="16764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2522" y="1200150"/>
            <a:ext cx="106422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UNIFIED PROJECT TEMPLATE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2522" y="2107852"/>
            <a:ext cx="49272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CORE RANKING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472" y="2107852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EVALUATION &amp; DELIVERABLES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1214437"/>
            <a:ext cx="159097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All projects (1 to 21) are standardized under a rigorous Information Retrieval pipeline. Each project evaluates four distinct ranking paradigms on specialized datasets: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2122140"/>
            <a:ext cx="159097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2225" y="2122140"/>
            <a:ext cx="140047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675" y="2345977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TF-IDF: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Term frequency-inverse document frequency classical vector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2577405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BM25: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Probabilistic relevance framework for sparse retrieval.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2808833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Sentence Embedding: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Dense semantic vector transformer retrieval.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304026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(RRF):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blending sparse &amp; dense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675" y="2345977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Metrics: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Precision@10, Recall, MAP, nDCG across all 21 domains.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675" y="2577405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Interactive Search Interface &amp; Precision-Recall graphs.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2808833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Preprocessing: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Text Cleaning, Tokenization, Stop-word removal, Stemming.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304026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Target: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Comprehensive performance comparison 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" y="2326927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" y="2558355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" y="2789783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" y="302121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2326927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225" y="2558355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2225" y="2789783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2225" y="302121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1: Building a Search Engine using Cranfield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6575" y="404812"/>
            <a:ext cx="1038225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Design a document retrieval system using classical and hybrid IR techniques.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Cranfield (1,400 aeronautical docs; 225 search queries; Relevance judgments/qrels)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607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Index Construction: Inverted index 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2: Passage Retrieval using MS MARCO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5" y="404812"/>
            <a:ext cx="1400175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Develop a passage retrieval system using sparse, dense, and hybrid retrieval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MS MARCO (8.8M passages; 1M queries; Human relevance labels)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927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Sparse &amp; Dense Indexing: BM25 &amp; DPR 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3: Question Answering using Natural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5" y="404812"/>
            <a:ext cx="1419225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Retrieve supporting evidence documents for open-domain question answering.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Natural Questions (Real Google search queries and Wikipedia passages)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217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Evidence Retrieval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4: Multi-hop Retrieval using HotpotQA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600" y="404812"/>
            <a:ext cx="16002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Retrieve multiple interconnected supporting documents for multi-hop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HotpotQA (Wikipedia-based complex question answering with evidence chains)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Multi-document Evidence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5: Scientific Search using SciFact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404812"/>
            <a:ext cx="15240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Scientific literature retrieval and claim verification evidence scoring.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SciFact (Scientific claims with annotated abstracts and evidence sentences)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982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Scientific Term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6: Medical Search using NFCorpus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850" y="404812"/>
            <a:ext cx="11239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Medical and nutritional document retrieval for natural language medical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NFCorpus (Medical domain dataset from PubMed and NutritionFacts)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0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Medical Term Expansion &amp;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7: COVID Research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404812"/>
            <a:ext cx="15240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emergency scientific search engine to index COVID-19 pandemic research.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TREC-COVID / CORD-19 (Open research articles on COVID-19 and coronaviruses)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Epidemic Corpus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8: Duplicate Question Retrieval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5550" y="404812"/>
            <a:ext cx="16192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Detect and retrieve semantically duplicate questions from large Q&amp;A databases.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Quora Question Pairs (400k+ question pairs with binary duplicate labels)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217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Short-text Vector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9: Financial Retrieval using FiQA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850" y="404812"/>
            <a:ext cx="11239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Retrieve financial documents, news, and opinionated financial statements.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FiQA (Financial opinion mining and question answering dataset)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0200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Financial Entity &amp; Term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10: Fact Verification using FEVER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700" y="404812"/>
            <a:ext cx="11811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Retrieve evidence sentences and documents for claim verification.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FEVER (185k+ human-generated claims with Wikipedia evidence passages)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67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Claim Evidence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11: Multilingual Search using MIRACL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75" y="404812"/>
            <a:ext cx="1304925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ad-hoc multilingual search systems across multiple languages (e.g., English, Hindi).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MIRACL (Multilingual Information Access for Diverse Languages)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592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Multilingual Cleaning, Tokenization,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Cross-lingual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12: BBC News Retrieval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404812"/>
            <a:ext cx="12001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Information Retrieval system for categorized news article archives.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BBC News (Categorized news corpus across politics, business, tech, sport, entertainment)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Inverted Index &amp; Document Vector 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13: Legal Retrieval using CaseHOLD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404812"/>
            <a:ext cx="12192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IR system for legal judicial decisions, precedents, and case law holdings.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CaseHOLD (Legal holdings dataset derived from US Federal Court decisions)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Legal Term Inverted &amp; Vector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14: Product Search using Amazon ESCI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5550" y="404812"/>
            <a:ext cx="16192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IR system for e-commerce product search with Exact, Substitute, Complement, Irrelevant labels.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Amazon ESCI (Shopping queries with customer judgment relevance labels)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457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Product Title Cleaning, Tokenization,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Product Catalog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15: Book Search using Book-Crossing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404812"/>
            <a:ext cx="13716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IR system for book catalog retrieval using titles, authors, and metadata descriptions.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Book-Crossing (278k users, 1.1M explicit ratings, 270k book metadata entries)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Metadata Inverted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16: Email Search using Enron 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404812"/>
            <a:ext cx="10668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enterprise email search engine capable of searching body text, subjects, and threads.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Enron Email (500k+ real enterprise email messages from senior management)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792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Header/Body Cleaning, Tokenization,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Enterprise Document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6000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60675"/>
            <a:ext cx="5562600" cy="16810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260675"/>
            <a:ext cx="5562600" cy="16810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17: 20 Newsgroups Retrieval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0" y="404812"/>
            <a:ext cx="14287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IR system for newsgroup postings across 20 distinct discussion topics.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20 Newsgroups (18,000 newsgroup posts partitioned evenly across 20 topics)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422600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422600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43688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2225" y="343688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660725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0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660725"/>
            <a:ext cx="49911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Header Removal,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408548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Topic Corpus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31690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548336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2225" y="412358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2350" y="412358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3375" y="412358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67725" y="412358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641675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406643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9785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529286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18: ArXiv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675" y="404812"/>
            <a:ext cx="1381125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academic paper search engine for preprints, abstracts, and research metadata.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ArXiv Corpus (1.7M+ STEM paper abstracts, titles, categories, and authors)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Math/LaTeX Cleaning, Tokenization,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Scientific Abstract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19: Movie Search using MovieLens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7025" y="404812"/>
            <a:ext cx="1247775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IR search engine for movie plot descriptions, user tags, and genre metadata.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MovieLens (25M ratings, 1M tags applied to 62k movies by 162k users)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407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Tag &amp; Plot Cleaning, Tokenization,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Media Metadata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20: FAQ Retrieval using InsuranceQA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7450" y="404812"/>
            <a:ext cx="16573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Build an IR system to retrieve answer passages for customer insurance FAQ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InsuranceQA (Question-answer pairs from Insurance Library domain)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Interface, Performance Comparison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3575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Cleaning, Tokenization, Stop-word removal,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FAQ Document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8225"/>
            <a:ext cx="11277600" cy="10681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5851"/>
            <a:ext cx="112776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7264"/>
            <a:ext cx="5562600" cy="1487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7264"/>
            <a:ext cx="5562600" cy="148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21: RAG using LoTTE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404812"/>
            <a:ext cx="15240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472" y="1200150"/>
            <a:ext cx="10661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GOAL &amp; DATASET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214437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1438275"/>
            <a:ext cx="108775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Goal: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Develop a Retrieval-Augmented Generation (RAG) system combining hybrid retrieval with LLM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1669702"/>
            <a:ext cx="10877550" cy="27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Dataset: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LoTTE (Long-Tail Topic Evaluation benchmark for out-of-domain RAG) </a:t>
            </a:r>
            <a:r>
              <a:rPr sz="1050" b="0" i="0" u="none">
                <a:solidFill>
                  <a:srgbClr val="2563EB"/>
                </a:solidFill>
                <a:latin typeface="Inter SemiBold"/>
              </a:rPr>
              <a:t>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72" y="3519189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STANDARDIZED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9422" y="3519189"/>
            <a:ext cx="496535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OUTPUT &amp;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33477"/>
            <a:ext cx="140047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33477"/>
            <a:ext cx="120997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2225" y="3757314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Expected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Search &amp; RAG Interface, Performance Table, Precision-Recall graph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0" y="1745158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3757314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Text Preprocessing: Document Chunking, Tokenization, Stemming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398874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RAG Vector Store &amp; Sparse Inverted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22017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Ranking Algorithms: TF-IDF, BM25, Sentence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451598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Hybrid Model: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Reciprocal Rank Fusion (RRF) Context Selection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220170"/>
            <a:ext cx="942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4220170"/>
            <a:ext cx="52387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220170"/>
            <a:ext cx="45720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220170"/>
            <a:ext cx="51435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" y="3738264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396969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420112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" y="443254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528369"/>
            <a:ext cx="11277600" cy="9486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38225"/>
            <a:ext cx="5562600" cy="168101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38225"/>
            <a:ext cx="5562600" cy="16810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901130"/>
            <a:ext cx="5162550" cy="409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11734800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Methodology &amp; Implementation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86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0" y="404812"/>
            <a:ext cx="22479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4897" y="5690294"/>
            <a:ext cx="10689877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SUBMISSION DELIVERABLES (20 MARKS)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897" y="1200150"/>
            <a:ext cx="4974877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RECIPROCAL RANK FUSION (RRF)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472" y="1200150"/>
            <a:ext cx="4946302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STANDARD EVALUATION METRICS CHECKLIST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5704582"/>
            <a:ext cx="111472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7225" y="5928419"/>
            <a:ext cx="10877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Each assigned project requires: (1) Technical Report with detailed performance table and Precision-Recall graph, and (2) Live Working Search Interface Demonstration showcasing TF-IDF, BM25, Sentence Transformers, and Hybrid RRF ranking.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1214437"/>
            <a:ext cx="111472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7225" y="1438275"/>
            <a:ext cx="51625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RRF combines rankings from multiple retrieval systems (TF-IDF, BM25, Sentence Transformer) without needing score normalization: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2386905"/>
            <a:ext cx="516255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Where </a:t>
            </a:r>
            <a:r>
              <a:rPr sz="900" b="0" i="1" u="none">
                <a:solidFill>
                  <a:srgbClr val="64748B"/>
                </a:solidFill>
                <a:latin typeface="Inter"/>
              </a:rPr>
              <a:t>k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 is a smoothing constant (typically k=60), and </a:t>
            </a:r>
            <a:r>
              <a:rPr sz="900" b="0" i="1" u="none">
                <a:solidFill>
                  <a:srgbClr val="64748B"/>
                </a:solidFill>
                <a:latin typeface="Inter"/>
              </a:rPr>
              <a:t>r_m(d)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 is document rank in method </a:t>
            </a:r>
            <a:r>
              <a:rPr sz="900" b="0" i="1" u="none">
                <a:solidFill>
                  <a:srgbClr val="64748B"/>
                </a:solidFill>
                <a:latin typeface="Inter"/>
              </a:rPr>
              <a:t>m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2225" y="1214437"/>
            <a:ext cx="140047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3675" y="1438275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Precision@10: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Proportion of relevant items in top-10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675" y="1669702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Recall: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Ratio of retrieved relevant documents to total relevant documents.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675" y="1901130"/>
            <a:ext cx="49911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MAP (Mean Average Precision):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Average precision across queries.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675" y="2132558"/>
            <a:ext cx="49911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nDCG (Normalized Discounted Cumulative Gain):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Rank-weighted relevance score.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1419225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165065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188208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211350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2353</Words>
  <Application>Microsoft Office PowerPoint</Application>
  <PresentationFormat>Widescreen</PresentationFormat>
  <Paragraphs>357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Inter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Shikha Mundra [MU - Jaipur]</cp:lastModifiedBy>
  <cp:revision>4</cp:revision>
  <dcterms:created xsi:type="dcterms:W3CDTF">2013-01-27T09:14:16Z</dcterms:created>
  <dcterms:modified xsi:type="dcterms:W3CDTF">2026-08-11T10:38:52Z</dcterms:modified>
  <cp:category/>
</cp:coreProperties>
</file>